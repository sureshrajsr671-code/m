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518" y="2650777"/>
            <a:ext cx="2366962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0431" y="3117502"/>
            <a:ext cx="9091136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Data-Driven Retention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8412" y="3921323"/>
            <a:ext cx="71151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Analyzing Employee Attrition &amp; Enhancing Engagement for Junior Staff at Adecco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0665" y="2909887"/>
            <a:ext cx="535066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795712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A comprehensive analysis of employee turnover across 4,410 staff records, highlighting key drivers and actionable interventions to retain junior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1762"/>
            <a:ext cx="4419600" cy="2276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Junior Attrition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062287"/>
            <a:ext cx="38290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4F46E5"/>
                </a:solidFill>
                <a:latin typeface="Poppins"/>
              </a:rPr>
              <a:t>24.8%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300537"/>
            <a:ext cx="38290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1B4B"/>
                </a:solidFill>
                <a:latin typeface="Lato"/>
              </a:rPr>
              <a:t>Junior Staff Turnover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Targeted Turnover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3233737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While Adecco India's overall company turnover stands at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16.1%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(711 exits across 4,410 employees), attrition spikes to nearly 25% for junior-level roles (Job Level 1 and staff under age 30).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350" y="41481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This localized attrition disrupts software project lifecycles, strains engineering sprints, and escalates recruitment and onboarding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Study Dataset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00250"/>
            <a:ext cx="5334000" cy="77152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Merged Data Architecture: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Unified demographic data, job survey results, manager feedback, and daily attendance logs across 4,410 employees.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24175"/>
            <a:ext cx="5334000" cy="51435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Multi-Department Scope: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Evaluation across Engineering, Sales, Marketing, and Customer Support divisions.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90925"/>
            <a:ext cx="5334000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Time-Log Analytics: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Net working hours derived from daily in-time and out-time timestamps to accurately quantify overtime fatigue.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7037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33787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8912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8912"/>
            <a:ext cx="53340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Primary Drivers of Turnover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181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Poppins"/>
              </a:rPr>
              <a:t>Overtime &amp; Fatigue Burnout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948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Employees averaging over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8.5 daily hours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exhibit a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31.2% attrition rate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, compared to 11.4% for those working standard hours. Junior tech staff face persistent crunch releases without compensatory time 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7181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Poppins"/>
              </a:rPr>
              <a:t>Level 1 Growth Plateau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51948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Junior employees receiving low salary hikes (&lt; 13%) leave at 22.5%. Furthermore, staff spending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≥ 2 years in Job Level 1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without promotion show a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29.1% attrition rate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due to role stagnation.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1737"/>
            <a:ext cx="3524250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71737"/>
            <a:ext cx="3524250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71737"/>
            <a:ext cx="3524250" cy="2676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Secondary Risk Factors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47962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33762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Manager Tenure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43337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Attrition reaches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32.8%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during the first 12 months under a direct manager, dropping to 11.2% once tenure exceeds 3 years.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747962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433762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Travel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43337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Frequent client travel triggers a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24.9% turnover rate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, whereas non-traveling roles maintain a low 8.0% attrition baseline.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2747962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2475" y="3433762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Work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3843337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Staff reporting low Environment Satisfaction (Score 1) register a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25.4% attrition rate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due to team communication friction.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2871787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587" y="2871787"/>
            <a:ext cx="33337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300" y="2871787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Attrition by Department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686300"/>
            <a:ext cx="11049000" cy="542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4829175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Lato"/>
              </a:rPr>
              <a:t>HR and Junior Sales/Tech roles represent the highest risk pools, requiring specialized intervention in career mapping and incentive restructuring.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686300"/>
            <a:ext cx="38100" cy="5429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Quantitative Risk Factors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09800"/>
          <a:ext cx="110489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972"/>
                <a:gridCol w="3366492"/>
                <a:gridCol w="2373808"/>
                <a:gridCol w="1812726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Demographic /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High-Risk Cohort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Attrition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Marital Status &amp; 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Single, Age &lt; 30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Work-Life Balance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Rating = 1 (Poor Balance)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33.1%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Daily Work Hours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&gt; 8.5 Hours per Day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Manager Relationship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≤ 1 Year with Manager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32.8%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Compensation Hike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&lt; 13% Salary Increase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22.5%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7289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67472" y="27289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33964" y="27289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07773" y="27289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623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7472" y="32623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33964" y="32623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807773" y="32623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7957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7472" y="37957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33964" y="37957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07773" y="37957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3291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7472" y="43291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33964" y="43291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07773" y="43291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8625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7472" y="48625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33964" y="48625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07773" y="48625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5395912"/>
            <a:ext cx="3495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7472" y="5395912"/>
            <a:ext cx="3366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33964" y="5395912"/>
            <a:ext cx="2373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07773" y="5395912"/>
            <a:ext cx="181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773" y="2875747"/>
            <a:ext cx="628650" cy="2381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772" y="3428999"/>
            <a:ext cx="628650" cy="2381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772" y="3989752"/>
            <a:ext cx="628650" cy="2381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252" y="4495800"/>
            <a:ext cx="476250" cy="2381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7344" y="5022835"/>
            <a:ext cx="68580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Overtime &amp; Burnout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Impact of Excessive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Attendance logs reveal junior developers average 8.6 daily working hours. Chronic overtime during sprint cycles without mandatory recovery days leads to rapid disengagement.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Mitigating burnout through strict weekly workload caps represents the single largest operational opportunity to reduce attrition.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43375"/>
            <a:ext cx="2541240" cy="126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400300"/>
            <a:ext cx="2541240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43375"/>
            <a:ext cx="2541240" cy="1266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400300"/>
            <a:ext cx="2541240" cy="1266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Action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7990" y="4305300"/>
            <a:ext cx="232825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F46E5"/>
                </a:solidFill>
                <a:latin typeface="Poppins"/>
              </a:rPr>
              <a:t>Q1 - Workload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4648200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Institute 45h weekly overtime alarms and mandatory post-sprint rest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910" y="2562225"/>
            <a:ext cx="232825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F46E5"/>
                </a:solidFill>
                <a:latin typeface="Poppins"/>
              </a:rPr>
              <a:t>Q2 - Career Tracks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9344" y="2905125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Establish a transparent 18-month progression framework from Level 1 to Level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830" y="4305300"/>
            <a:ext cx="232825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F46E5"/>
                </a:solidFill>
                <a:latin typeface="Poppins"/>
              </a:rPr>
              <a:t>Q3 - Mentorship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5264" y="4648200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Mandate structured 30-60-90 day skip-level reviews and manager alignment KPIs.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5750" y="2562225"/>
            <a:ext cx="232825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F46E5"/>
                </a:solidFill>
                <a:latin typeface="Poppins"/>
              </a:rPr>
              <a:t>Q4 - Hybrid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1184" y="2905125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Offer 2-3 remote days for employees commuting over 10 km to reduce travel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326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918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510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Action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393" y="4514850"/>
            <a:ext cx="37004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Poppins"/>
              </a:rPr>
              <a:t>Workload Capping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910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Automated attendance alerts prevent developer burnout during crunch cycles.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5768" y="4514850"/>
            <a:ext cx="37004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Poppins"/>
              </a:rPr>
              <a:t>Growth Mentorship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3875" y="47910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Structured 1-on-1 career mapping to boost junior engagement and loyalty.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8143" y="4514850"/>
            <a:ext cx="37004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Poppins"/>
              </a:rPr>
              <a:t>Hybrid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0" y="47910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Flexible work schedules to offset long daily commutes and travel stress.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3524250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71725"/>
            <a:ext cx="3524250" cy="2000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71725"/>
            <a:ext cx="3524250" cy="200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577</Words>
  <Application>Microsoft Office PowerPoint</Application>
  <PresentationFormat>Custom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3</cp:revision>
  <dcterms:created xsi:type="dcterms:W3CDTF">2013-01-27T09:14:16Z</dcterms:created>
  <dcterms:modified xsi:type="dcterms:W3CDTF">2026-09-03T04:31:01Z</dcterms:modified>
  <cp:category/>
</cp:coreProperties>
</file>