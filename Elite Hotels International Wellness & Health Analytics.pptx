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587" y="2509391"/>
            <a:ext cx="355282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0364" y="3014216"/>
            <a:ext cx="10171271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0F172A"/>
                </a:solidFill>
                <a:latin typeface="Poppins"/>
              </a:rPr>
              <a:t>Guest Health &amp; Wellness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796158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Cardiovascular Risk Profiling Across 1,025 Guest Profiles to Power Personalized Wellness Retreats &amp; Preventive Hospitality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70634" y="2919412"/>
            <a:ext cx="585073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Executive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3805237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Empirical investigation into cardiovascular health indicators (cholesterol, blood pressure, heart rate, chest pain) to pioneer luxury health retreats.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1775"/>
            <a:ext cx="441960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162300"/>
            <a:ext cx="38290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0D9488"/>
                </a:solidFill>
                <a:latin typeface="Poppins"/>
              </a:rPr>
              <a:t>51.3%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29100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15E59"/>
                </a:solidFill>
                <a:latin typeface="Lato"/>
              </a:rPr>
              <a:t>High Cardiac Risk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2957512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Substantial Wellness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233737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Out of 1,025 clinical evaluation records in the dataset,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526 guests (51.3%) exhibit elevated cardiovascular risk indicators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requiring targeted wellness intervention.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3890962"/>
            <a:ext cx="615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By transforming physiological diagnostic data into tailored wellness itineraries, Elite Hotels International can unlock high-margin medical hospitality and longevity tourism.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Cardiovascular Risk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310187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1,025 Health Profiles: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Multi-variate records across 14 physiological biomarkers including blood pressure, cholesterol, and max heart 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67000"/>
            <a:ext cx="5310187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Key Clinical Indicators: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Chest pain classifications (CP), resting ECG results, exercise-induced angina (Exang), and ST depression (Oldpeak).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33750"/>
            <a:ext cx="5310187" cy="51435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Preventive Strategy: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Guiding personalized wellness programs, low-sodium dining, and supervised fitness sessions.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2000250"/>
            <a:ext cx="5310187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9862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76612"/>
            <a:ext cx="15240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Dataset &amp; Biomarker Scope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9387"/>
            <a:ext cx="5310187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12" y="2719387"/>
            <a:ext cx="5310187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Poppins"/>
              </a:rPr>
              <a:t>1. Non-Anginal &amp; Atypical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9012"/>
            <a:ext cx="462438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Guests exhibiting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Atypical Angina (CP=1) and Non-Anginal Pain (CP=2)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show over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75% correlation with cardiac risk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 These guests benefit immensely from stress reduction therapies and guided biofeedback.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212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Poppins"/>
              </a:rPr>
              <a:t>2. Asymptomatic Risk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3212" y="3529012"/>
            <a:ext cx="462438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Guests labeled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Asymptomatic (CP=3)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often present silent cardiovascular strain. Structured preventive screening during hotel stays uncovers hidden risk factors before complications occur.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Chest Pain &amp; Symptom Stratification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491037"/>
            <a:ext cx="11049000" cy="781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62438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Surprise finding: Younger evaluating cohorts present a high proportion of reversible cardiac risk factors, emphasizing early intervention and lifestyle modification programs.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491037"/>
            <a:ext cx="38100" cy="781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Cardiac Risk Share by Age Cohort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0787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0787"/>
            <a:ext cx="3530649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6701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Max Heart Rate (Thalach)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Achieving max heart rate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above 150 bpm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correlates strongly with positive fitness response, while low max HR indicates diminished reserve capacity.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6701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Exercise-Induced Angina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Guests experiencing angina during exertion (Exang=1) require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low-impact, supervised physical therapy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rather than high-intensity gym regimens.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6701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Serum Cholesterol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Average cholesterol across evaluated profiles is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246 mg/dL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highlighting the immediate need for curated plant-based and anti-inflammatory hotel menus.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890837"/>
            <a:ext cx="2762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087" y="2890837"/>
            <a:ext cx="2190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890837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Physiological Risk Catalysts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290174"/>
              </p:ext>
            </p:extLst>
          </p:nvPr>
        </p:nvGraphicFramePr>
        <p:xfrm>
          <a:off x="571500" y="2274093"/>
          <a:ext cx="11048998" cy="307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90"/>
                <a:gridCol w="1761976"/>
                <a:gridCol w="1875978"/>
                <a:gridCol w="2217985"/>
                <a:gridCol w="2747069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Cohort Demographics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Resting BP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Cholesterol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Max Heart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Cardiovascular Risk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Female (&lt; 50 Yrs)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126 mm Hg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240 mg/dL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162 bpm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Female (50+ Yrs)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138 mm Hg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268 mg/dL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146 bpm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Male (&lt; 50 Yrs)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128 mm Hg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232 mg/dL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156 bpm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Male (50+ Yrs)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135 mm Hg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248 mg/dL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138 bpm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Exercise Angina 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137 mm Hg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254 mg/dL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132 bpm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59868"/>
            <a:ext cx="2445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17490" y="2759868"/>
            <a:ext cx="1761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79466" y="2759868"/>
            <a:ext cx="18759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55444" y="2759868"/>
            <a:ext cx="2217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73430" y="2759868"/>
            <a:ext cx="2747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4218"/>
            <a:ext cx="2445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17490" y="3274218"/>
            <a:ext cx="1761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79466" y="3274218"/>
            <a:ext cx="18759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55444" y="3274218"/>
            <a:ext cx="2217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73430" y="3274218"/>
            <a:ext cx="2747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788568"/>
            <a:ext cx="2445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17490" y="3788568"/>
            <a:ext cx="1761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79466" y="3788568"/>
            <a:ext cx="18759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55444" y="3788568"/>
            <a:ext cx="2217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73430" y="3788568"/>
            <a:ext cx="2747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02918"/>
            <a:ext cx="2445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17490" y="4302918"/>
            <a:ext cx="1761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79466" y="4302918"/>
            <a:ext cx="18759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5444" y="4302918"/>
            <a:ext cx="2217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73430" y="4302918"/>
            <a:ext cx="2747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17268"/>
            <a:ext cx="2445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17490" y="4817268"/>
            <a:ext cx="1761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79466" y="4817268"/>
            <a:ext cx="18759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655444" y="4817268"/>
            <a:ext cx="2217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73430" y="4817268"/>
            <a:ext cx="2747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331618"/>
            <a:ext cx="2445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17490" y="5331618"/>
            <a:ext cx="1761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79466" y="5331618"/>
            <a:ext cx="18759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55444" y="5331618"/>
            <a:ext cx="2217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73430" y="5331618"/>
            <a:ext cx="27470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930" y="2926556"/>
            <a:ext cx="12001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930" y="3440906"/>
            <a:ext cx="100965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930" y="3955256"/>
            <a:ext cx="952500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3930" y="4469606"/>
            <a:ext cx="1095375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3930" y="4983956"/>
            <a:ext cx="123825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Biomarker Risk Matrix Across Cohorts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Preventive Health Diagnostics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62125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Advanced Clinical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38350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Integrating non-invasive ECG monitoring and vessel health assessments into luxury stay packages creates an unparalleled guest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13620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Early identification of ST-segment depression (Oldpeak) enables on-site cardiologists to prescribe personalized lifestyle and stress-reduction plans during guest retreats.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541240" cy="1533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86012"/>
            <a:ext cx="2541240" cy="1257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19562"/>
            <a:ext cx="2541240" cy="125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09787"/>
            <a:ext cx="2541240" cy="1533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281487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D9488"/>
                </a:solidFill>
                <a:latin typeface="Poppins"/>
              </a:rPr>
              <a:t>Q1 - Screening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891087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Deploy voluntary arrival biomarker check-ups &amp; resting ECG screenings.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54793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D9488"/>
                </a:solidFill>
                <a:latin typeface="Poppins"/>
              </a:rPr>
              <a:t>Q2 - Dietary Overhaul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Introduce heart-healthy, low-sodium culinary packages crafted by nutritionists.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8148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D9488"/>
                </a:solidFill>
                <a:latin typeface="Poppins"/>
              </a:rPr>
              <a:t>Q3 - Supervised Fitness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61486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Launch customized cardiac fitness coaching tailored to Exang &amp; heart rate reserves.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D9488"/>
                </a:solidFill>
                <a:latin typeface="Poppins"/>
              </a:rPr>
              <a:t>Q4 - Post-Stay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Provide continuous smartwatch health monitoring and virtual doctor consultations.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Wellness Program Rollout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Personalized Nutrition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Curated gourmet detox diets designed to reduce serum cholesterol and stabilize blood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74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Supervised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074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Heart-rate monitored exercise regimes safe for guests with exercise-induced angina or low vessel reserve.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999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Continuous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Extending hospital-grade health telemetry beyond checkout with continuous smartwatch sync.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5056"/>
            <a:ext cx="3530649" cy="2000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5056"/>
            <a:ext cx="3530649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5056"/>
            <a:ext cx="3530649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Wellness Action Pillars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595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2</cp:revision>
  <dcterms:created xsi:type="dcterms:W3CDTF">2013-01-27T09:14:16Z</dcterms:created>
  <dcterms:modified xsi:type="dcterms:W3CDTF">2026-09-03T04:33:13Z</dcterms:modified>
  <cp:category/>
</cp:coreProperties>
</file>