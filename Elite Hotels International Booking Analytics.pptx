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18" d="100"/>
          <a:sy n="118" d="100"/>
        </p:scale>
        <p:origin x="-276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9587" y="2213669"/>
            <a:ext cx="3552825" cy="2952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275" y="2718494"/>
            <a:ext cx="11601450" cy="1182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657"/>
              </a:lnSpc>
            </a:pPr>
            <a:r>
              <a:rPr sz="4050" b="1" i="0" u="none">
                <a:solidFill>
                  <a:srgbClr val="0F172A"/>
                </a:solidFill>
                <a:latin typeface="Poppins"/>
              </a:rPr>
              <a:t>Hotel Booking Demand &amp; Revenue Diagnostics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14500" y="4091880"/>
            <a:ext cx="876300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75"/>
              </a:lnSpc>
            </a:pPr>
            <a:r>
              <a:rPr sz="1500" b="0" i="0" u="none">
                <a:solidFill>
                  <a:srgbClr val="64748B"/>
                </a:solidFill>
                <a:latin typeface="Lato"/>
              </a:rPr>
              <a:t>Data-Driven Insights Across 119,000+ Reservations to Mitigate Cancellations, Optimize ADR, and Enhance Guest Satisfaction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20665" y="2919412"/>
            <a:ext cx="5350668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0F172A"/>
                </a:solidFill>
                <a:latin typeface="Poppins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14500" y="3805237"/>
            <a:ext cx="876300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75"/>
              </a:lnSpc>
            </a:pPr>
            <a:r>
              <a:rPr sz="1500" b="0" i="0" u="none">
                <a:solidFill>
                  <a:srgbClr val="64748B"/>
                </a:solidFill>
                <a:latin typeface="Lato"/>
              </a:rPr>
              <a:t>Empirical analysis into hotel booking patterns, lead time sensitivity, market segment performance, and overbooking strategy to maximize RevPAR.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71775"/>
            <a:ext cx="4419600" cy="2076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6775" y="3162300"/>
            <a:ext cx="382905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sz="7500" b="1" i="0" u="none">
                <a:solidFill>
                  <a:srgbClr val="D97706"/>
                </a:solidFill>
                <a:latin typeface="Poppins"/>
              </a:rPr>
              <a:t>37.0%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6775" y="4229100"/>
            <a:ext cx="38290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78350F"/>
                </a:solidFill>
                <a:latin typeface="Lato"/>
              </a:rPr>
              <a:t>Overall Booking Cancellation 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7350" y="2957512"/>
            <a:ext cx="6460807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0F172A"/>
                </a:solidFill>
                <a:latin typeface="Poppins"/>
              </a:rPr>
              <a:t>Substantial Revenue &amp; Operational Friction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67350" y="3233737"/>
            <a:ext cx="61531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Out of 119,390 hotel booking records analyzed across City and Resort properties, </a:t>
            </a:r>
            <a:r>
              <a:rPr sz="1350" b="1" i="0" u="none">
                <a:solidFill>
                  <a:srgbClr val="334155"/>
                </a:solidFill>
                <a:latin typeface="Lato"/>
              </a:rPr>
              <a:t>44,224 reservations were cancelled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prior to guest arrival.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67350" y="3890962"/>
            <a:ext cx="61531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Uncontrolled cancellation velocity distorts inventory forecasting, inflates re-distribution acquisition costs, and creates severe staffing inefficiencies during peak seasons.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The Booking Demand Landscape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000250"/>
            <a:ext cx="5310187" cy="514350"/>
          </a:xfrm>
          <a:prstGeom prst="rect">
            <a:avLst/>
          </a:prstGeom>
          <a:noFill/>
        </p:spPr>
        <p:txBody>
          <a:bodyPr wrap="square" lIns="26670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Lato"/>
              </a:rPr>
              <a:t>119,390 Reservation Profiles: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Multi-variate tracking spanning City Hotel (79,330) and Resort Hotel (40,060) properties.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2667000"/>
            <a:ext cx="5310187" cy="514350"/>
          </a:xfrm>
          <a:prstGeom prst="rect">
            <a:avLst/>
          </a:prstGeom>
          <a:noFill/>
        </p:spPr>
        <p:txBody>
          <a:bodyPr wrap="square" lIns="2476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Lato"/>
              </a:rPr>
              <a:t>Lead Time &amp; Seasonality: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Quantified booking windows ranging from 0 to 737 days ahead of arrival across 2015–2017.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333750"/>
            <a:ext cx="5310187" cy="514350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Lato"/>
              </a:rPr>
              <a:t>Yield &amp; Financial Indicators: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Evaluated Average Daily Rate (ADR), deposit non-refundability, market segments, and special request counts.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0312" y="2000250"/>
            <a:ext cx="5310187" cy="3619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043112"/>
            <a:ext cx="171450" cy="1809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709862"/>
            <a:ext cx="152400" cy="1809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376612"/>
            <a:ext cx="114300" cy="1809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Dataset &amp; Analytics Scope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19387"/>
            <a:ext cx="5310187" cy="21812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0312" y="2719387"/>
            <a:ext cx="5310187" cy="21812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062287"/>
            <a:ext cx="4855606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D97706"/>
                </a:solidFill>
                <a:latin typeface="Poppins"/>
              </a:rPr>
              <a:t>1. City Hotel (Business Focus)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29012"/>
            <a:ext cx="4624387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City properties suffer a severe </a:t>
            </a:r>
            <a:r>
              <a:rPr sz="1350" b="1" i="0" u="none">
                <a:solidFill>
                  <a:srgbClr val="334155"/>
                </a:solidFill>
                <a:latin typeface="Lato"/>
              </a:rPr>
              <a:t>41.7% cancellation rate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. Characterized by shorter stay durations (avg 3.0 nights), transient corporate travelers, and extreme sensitivity to OTA rate comparisons.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53212" y="3062287"/>
            <a:ext cx="4855606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D97706"/>
                </a:solidFill>
                <a:latin typeface="Poppins"/>
              </a:rPr>
              <a:t>2. Resort Hotel (Leisure Focus)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53212" y="3529012"/>
            <a:ext cx="4624387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Resort properties maintain a lower </a:t>
            </a:r>
            <a:r>
              <a:rPr sz="1350" b="1" i="0" u="none">
                <a:solidFill>
                  <a:srgbClr val="334155"/>
                </a:solidFill>
                <a:latin typeface="Lato"/>
              </a:rPr>
              <a:t>27.8% cancellation rate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with longer stay durations (avg 4.3 nights), higher summer ADR spikes (€150–€250+), and higher guest commitment.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City vs. Resort Property Dynamics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38250"/>
            <a:ext cx="11049000" cy="51435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71500" y="4491037"/>
            <a:ext cx="11049000" cy="78105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2000" y="4624387"/>
            <a:ext cx="106680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1" u="none">
                <a:solidFill>
                  <a:srgbClr val="334155"/>
                </a:solidFill>
                <a:latin typeface="Lato"/>
              </a:rPr>
              <a:t>Bookings made more than 6 months in advance are nearly 3x more likely to cancel than short-lead bookings. Long-lead inventory requires strict non-refundable terms or structured deposit schedules.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4491037"/>
            <a:ext cx="38100" cy="78105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Cancellation Rate by Lead Time Window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90787"/>
            <a:ext cx="3530649" cy="26384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490787"/>
            <a:ext cx="3530649" cy="26384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490787"/>
            <a:ext cx="3530649" cy="26384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2767012"/>
            <a:ext cx="495300" cy="4953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7725" y="3433762"/>
            <a:ext cx="3127109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0F172A"/>
                </a:solidFill>
                <a:latin typeface="Poppins"/>
              </a:rPr>
              <a:t>Parking &amp; Special Requests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824287"/>
            <a:ext cx="2978199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Guests requesting parking spaces show a near </a:t>
            </a:r>
            <a:r>
              <a:rPr sz="1350" b="1" i="0" u="none">
                <a:solidFill>
                  <a:srgbClr val="334155"/>
                </a:solidFill>
                <a:latin typeface="Lato"/>
              </a:rPr>
              <a:t>0% cancellation rate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. Adding 2+ special requests reduces cancellation probability by over 65%.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6974" y="2767012"/>
            <a:ext cx="495300" cy="4953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06974" y="3433762"/>
            <a:ext cx="3127109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0F172A"/>
                </a:solidFill>
                <a:latin typeface="Poppins"/>
              </a:rPr>
              <a:t>Direct vs. OTA Distribution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6974" y="3824287"/>
            <a:ext cx="2978199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Direct bookings yield a low </a:t>
            </a:r>
            <a:r>
              <a:rPr sz="1350" b="1" i="0" u="none">
                <a:solidFill>
                  <a:srgbClr val="334155"/>
                </a:solidFill>
                <a:latin typeface="Lato"/>
              </a:rPr>
              <a:t>15.4% cancellation rate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, while Online Travel Agency (OTA) channels experience high cancellation rates exceeding 41%.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6224" y="2767012"/>
            <a:ext cx="495300" cy="4953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66224" y="3433762"/>
            <a:ext cx="3127109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0F172A"/>
                </a:solidFill>
                <a:latin typeface="Poppins"/>
              </a:rPr>
              <a:t>Repeated Guest Loyalty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224" y="3824287"/>
            <a:ext cx="2978199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Repeat guests represent less than 3.2% of total bookings but exhibit a low </a:t>
            </a:r>
            <a:r>
              <a:rPr sz="1350" b="1" i="0" u="none">
                <a:solidFill>
                  <a:srgbClr val="334155"/>
                </a:solidFill>
                <a:latin typeface="Lato"/>
              </a:rPr>
              <a:t>14.4% cancellation rate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and higher incidental property spend.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5837" y="2890837"/>
            <a:ext cx="219075" cy="2476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97462" y="2890837"/>
            <a:ext cx="314325" cy="2476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90049" y="2890837"/>
            <a:ext cx="247650" cy="2476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Core Predictors of Guest Commitment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4495031"/>
              </p:ext>
            </p:extLst>
          </p:nvPr>
        </p:nvGraphicFramePr>
        <p:xfrm>
          <a:off x="571500" y="2274093"/>
          <a:ext cx="11048998" cy="30718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4685"/>
                <a:gridCol w="2038498"/>
                <a:gridCol w="1797248"/>
                <a:gridCol w="2412355"/>
                <a:gridCol w="2316212"/>
              </a:tblGrid>
              <a:tr h="511968">
                <a:tc>
                  <a:txBody>
                    <a:bodyPr/>
                    <a:lstStyle/>
                    <a:p>
                      <a:pPr algn="l"/>
                      <a:r>
                        <a:rPr sz="1275" b="0" i="0" u="none" dirty="0">
                          <a:solidFill>
                            <a:srgbClr val="FFFFFF"/>
                          </a:solidFill>
                          <a:latin typeface="Poppins SemiBold"/>
                        </a:rPr>
                        <a:t>Market Segment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Avg Lead Time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Avg ADR (€)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Cancellation Rate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Strategic Value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511968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Lato"/>
                        </a:rPr>
                        <a:t>Direct Bookings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47 Days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€106.50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15.4%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sz="1350" b="0" i="0" u="none" dirty="0">
                        <a:solidFill>
                          <a:srgbClr val="334155"/>
                        </a:solidFill>
                        <a:latin typeface="Lat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11968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Lato"/>
                        </a:rPr>
                        <a:t>Corporate Channel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26 Days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€86.40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18.7%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350" b="0" i="0" u="none" dirty="0">
                        <a:solidFill>
                          <a:srgbClr val="334155"/>
                        </a:solidFill>
                        <a:latin typeface="Lat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11968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Lato"/>
                        </a:rPr>
                        <a:t>Online TA (OTAs)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84 Days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€116.30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41.1%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sz="1350" b="0" i="0" u="none" dirty="0">
                        <a:solidFill>
                          <a:srgbClr val="334155"/>
                        </a:solidFill>
                        <a:latin typeface="Lat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11968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Lato"/>
                        </a:rPr>
                        <a:t>Offline TA / Tour Ops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137 Days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€87.20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34.3%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350" b="0" i="0" u="none" dirty="0">
                        <a:solidFill>
                          <a:srgbClr val="334155"/>
                        </a:solidFill>
                        <a:latin typeface="Lat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11972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Lato"/>
                        </a:rPr>
                        <a:t>Groups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185 Days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€79.80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61.1%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sz="1350" b="0" i="0" u="none" dirty="0">
                        <a:solidFill>
                          <a:srgbClr val="334155"/>
                        </a:solidFill>
                        <a:latin typeface="Lat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71500" y="2759868"/>
            <a:ext cx="248468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056185" y="2759868"/>
            <a:ext cx="203849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94684" y="2759868"/>
            <a:ext cx="179724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91932" y="2759868"/>
            <a:ext cx="241235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304287" y="2759868"/>
            <a:ext cx="23162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1500" y="3274218"/>
            <a:ext cx="248468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056185" y="3274218"/>
            <a:ext cx="203849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94684" y="3274218"/>
            <a:ext cx="179724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91932" y="3274218"/>
            <a:ext cx="241235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304287" y="3274218"/>
            <a:ext cx="23162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71500" y="3788568"/>
            <a:ext cx="248468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056185" y="3788568"/>
            <a:ext cx="203849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94684" y="3788568"/>
            <a:ext cx="179724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91932" y="3788568"/>
            <a:ext cx="241235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304287" y="3788568"/>
            <a:ext cx="23162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71500" y="4302918"/>
            <a:ext cx="248468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056185" y="4302918"/>
            <a:ext cx="203849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94684" y="4302918"/>
            <a:ext cx="179724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891932" y="4302918"/>
            <a:ext cx="241235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304287" y="4302918"/>
            <a:ext cx="23162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71500" y="4817268"/>
            <a:ext cx="248468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056185" y="4817268"/>
            <a:ext cx="203849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094684" y="4817268"/>
            <a:ext cx="179724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891932" y="4817268"/>
            <a:ext cx="241235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304287" y="4817268"/>
            <a:ext cx="23162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71500" y="5331618"/>
            <a:ext cx="248468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056185" y="5331618"/>
            <a:ext cx="203849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094684" y="5331618"/>
            <a:ext cx="179724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891932" y="5331618"/>
            <a:ext cx="241235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304287" y="5331618"/>
            <a:ext cx="23162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4787" y="2926556"/>
            <a:ext cx="1400175" cy="2286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4787" y="3440906"/>
            <a:ext cx="1076325" cy="22860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4787" y="3955256"/>
            <a:ext cx="1447800" cy="22860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4787" y="4469606"/>
            <a:ext cx="1314450" cy="22860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94787" y="4983956"/>
            <a:ext cx="1247775" cy="2286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Market Segment Performance Matrix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76250"/>
            <a:ext cx="5550693" cy="1047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Revenue Leakage &amp; Yield Management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762125"/>
            <a:ext cx="5550693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0F172A"/>
                </a:solidFill>
                <a:latin typeface="Poppins"/>
              </a:rPr>
              <a:t>The Overbooking Imperative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038350"/>
            <a:ext cx="528637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Unfilled room capacity resulting from late cancellations reduces potential RevPAR by up to 18% during high-demand months.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2739330"/>
            <a:ext cx="528637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Implementing machine-learning driven dynamic overbooking models allows properties to re-sell cancelled room inventory seamlessly without risking walk-away penalties.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119562"/>
            <a:ext cx="2541240" cy="15335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7419" y="2109787"/>
            <a:ext cx="2541240" cy="15335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3339" y="4119562"/>
            <a:ext cx="2541240" cy="15335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9259" y="2109787"/>
            <a:ext cx="2541240" cy="153352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1500" y="3862387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7990" y="4281487"/>
            <a:ext cx="2328259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25" b="1" i="0" u="none">
                <a:solidFill>
                  <a:srgbClr val="D97706"/>
                </a:solidFill>
                <a:latin typeface="Poppins"/>
              </a:rPr>
              <a:t>Q1 - Dynamic Overbooking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3425" y="4891087"/>
            <a:ext cx="221739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125" b="0" i="0" u="none">
                <a:solidFill>
                  <a:srgbClr val="334155"/>
                </a:solidFill>
                <a:latin typeface="Lato"/>
              </a:rPr>
              <a:t>Deploy ML models predicting daily cancellation probabilities by segment.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13910" y="2271712"/>
            <a:ext cx="2328259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25" b="1" i="0" u="none">
                <a:solidFill>
                  <a:srgbClr val="D97706"/>
                </a:solidFill>
                <a:latin typeface="Poppins"/>
              </a:rPr>
              <a:t>Q2 - Direct Booking Push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9344" y="2881312"/>
            <a:ext cx="221739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125" b="0" i="0" u="none">
                <a:solidFill>
                  <a:srgbClr val="334155"/>
                </a:solidFill>
                <a:latin typeface="Lato"/>
              </a:rPr>
              <a:t>Launch best-rate guarantees, free parking, and breakfast for direct site bookings.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9830" y="4281487"/>
            <a:ext cx="2328259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25" b="1" i="0" u="none">
                <a:solidFill>
                  <a:srgbClr val="D97706"/>
                </a:solidFill>
                <a:latin typeface="Poppins"/>
              </a:rPr>
              <a:t>Q3 - Tiered Deposit Policy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5264" y="4891087"/>
            <a:ext cx="221739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125" b="0" i="0" u="none">
                <a:solidFill>
                  <a:srgbClr val="334155"/>
                </a:solidFill>
                <a:latin typeface="Lato"/>
              </a:rPr>
              <a:t>Enforce 20% non-refundable deposits for bookings with lead times &gt; 90 days.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5750" y="2271712"/>
            <a:ext cx="2328259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25" b="1" i="0" u="none">
                <a:solidFill>
                  <a:srgbClr val="D97706"/>
                </a:solidFill>
                <a:latin typeface="Poppins"/>
              </a:rPr>
              <a:t>Q4 - Pre-Arrival Engagement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41184" y="2881312"/>
            <a:ext cx="221739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125" b="0" i="0" u="none">
                <a:solidFill>
                  <a:srgbClr val="334155"/>
                </a:solidFill>
                <a:latin typeface="Lato"/>
              </a:rPr>
              <a:t>Automate personalized pre-arrival surveys encouraging special requests.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37345" y="3776662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573265" y="3776662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409184" y="3776662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245104" y="3776662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Strategic Optimization Roadmap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385071"/>
            <a:ext cx="3707182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oppins"/>
              </a:rPr>
              <a:t>Direct Channel 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4747021"/>
            <a:ext cx="3530649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475569"/>
                </a:solidFill>
                <a:latin typeface="Lato"/>
              </a:rPr>
              <a:t>Migrate high-value guests from OTAs to direct web channels through exclusive loyalty perks and zero cancellation fees within 7 days.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30749" y="4385071"/>
            <a:ext cx="3707182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oppins"/>
              </a:rPr>
              <a:t>Dynamic Rate &amp; Restraint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30749" y="4747021"/>
            <a:ext cx="3530649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475569"/>
                </a:solidFill>
                <a:latin typeface="Lato"/>
              </a:rPr>
              <a:t>Adjust lead-time pricing dynamically and introduce non-refundable discount tiers for long-horizon summer resort bookings.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89999" y="4385071"/>
            <a:ext cx="3707182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oppins"/>
              </a:rPr>
              <a:t>Pre-Arrival Guest Lock-In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89999" y="4747021"/>
            <a:ext cx="3530649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475569"/>
                </a:solidFill>
                <a:latin typeface="Lato"/>
              </a:rPr>
              <a:t>Upsell dining packages, spa reservations, and parking pre-arrival to lock in guest commitment and drive non-room ancillary spend.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51471"/>
            <a:ext cx="3530649" cy="20002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251471"/>
            <a:ext cx="3530649" cy="20002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251471"/>
            <a:ext cx="3530649" cy="20002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Core Action Pillars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632</Words>
  <Application>Microsoft Office PowerPoint</Application>
  <PresentationFormat>Custom</PresentationFormat>
  <Paragraphs>74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Computer junction</cp:lastModifiedBy>
  <cp:revision>2</cp:revision>
  <dcterms:created xsi:type="dcterms:W3CDTF">2013-01-27T09:14:16Z</dcterms:created>
  <dcterms:modified xsi:type="dcterms:W3CDTF">2026-09-03T04:32:35Z</dcterms:modified>
  <cp:category/>
</cp:coreProperties>
</file>