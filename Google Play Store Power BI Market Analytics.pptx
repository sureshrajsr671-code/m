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687" y="2520255"/>
            <a:ext cx="271462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25453" y="3025080"/>
            <a:ext cx="8741092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0F172A"/>
                </a:solidFill>
                <a:latin typeface="Poppins"/>
              </a:rPr>
              <a:t>Google Play App 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3785145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Data-Driven App Development, UX Optimization, and Monetization Roadmap Powered by Power BI Interactive Visuals &amp; DAX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70634" y="2919412"/>
            <a:ext cx="5850731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Executive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500" y="3805237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Transforming 10,800+ raw store records into an interactive Power BI intelligence dashboard to inform product development, category selection, and revenue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90825"/>
            <a:ext cx="4419600" cy="2038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3181350"/>
            <a:ext cx="38290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D97706"/>
                </a:solidFill>
                <a:latin typeface="Poppins"/>
              </a:rPr>
              <a:t>10.8K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210050"/>
            <a:ext cx="3829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78350F"/>
                </a:solidFill>
                <a:latin typeface="Lato"/>
              </a:rPr>
              <a:t>Analyzed App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7350" y="2957512"/>
            <a:ext cx="646080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Freemium Dominance in Power BI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7350" y="3233737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DAX aggregation across the dataset confirms that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92.6% of Google Play apps are free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capturing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over 98.4% of total user downloads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3890962"/>
            <a:ext cx="61531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Upfront payment models create severe conversion friction. Sustainable app monetization depends on freemium tier upsells, recurring subscriptions, and targeted in-app 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Market Landscape Snapshot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00250"/>
            <a:ext cx="5310187" cy="7715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Power Query ETL: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Cleaned M-code functions converted string payloads (</a:t>
            </a:r>
            <a:r>
              <a:rPr sz="1350" b="0" i="0" u="none">
                <a:solidFill>
                  <a:srgbClr val="D97706"/>
                </a:solidFill>
                <a:latin typeface="Lato"/>
              </a:rPr>
              <a:t>19M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</a:t>
            </a:r>
            <a:r>
              <a:rPr sz="1350" b="0" i="0" u="none">
                <a:solidFill>
                  <a:srgbClr val="D97706"/>
                </a:solidFill>
                <a:latin typeface="Lato"/>
              </a:rPr>
              <a:t>2.5k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 into numeric MBs and standardized install bins (</a:t>
            </a:r>
            <a:r>
              <a:rPr sz="1350" b="0" i="0" u="none">
                <a:solidFill>
                  <a:srgbClr val="D97706"/>
                </a:solidFill>
                <a:latin typeface="Lato"/>
              </a:rPr>
              <a:t>10,000+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to </a:t>
            </a:r>
            <a:r>
              <a:rPr sz="1350" b="0" i="0" u="none">
                <a:solidFill>
                  <a:srgbClr val="D97706"/>
                </a:solidFill>
                <a:latin typeface="Lato"/>
              </a:rPr>
              <a:t>1B+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24175"/>
            <a:ext cx="5310187" cy="7715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Star Schema Model: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Formed a robust data model connecting </a:t>
            </a:r>
            <a:r>
              <a:rPr sz="1350" b="0" i="0" u="none">
                <a:solidFill>
                  <a:srgbClr val="D97706"/>
                </a:solidFill>
                <a:latin typeface="Lato"/>
              </a:rPr>
              <a:t>FactApps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to dimension tables (</a:t>
            </a:r>
            <a:r>
              <a:rPr sz="1350" b="0" i="0" u="none">
                <a:solidFill>
                  <a:srgbClr val="D97706"/>
                </a:solidFill>
                <a:latin typeface="Lato"/>
              </a:rPr>
              <a:t>DimCategory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</a:t>
            </a:r>
            <a:r>
              <a:rPr sz="1350" b="0" i="0" u="none">
                <a:solidFill>
                  <a:srgbClr val="D97706"/>
                </a:solidFill>
                <a:latin typeface="Lato"/>
              </a:rPr>
              <a:t>DimPriceTier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and </a:t>
            </a:r>
            <a:r>
              <a:rPr sz="1350" b="0" i="0" u="none">
                <a:solidFill>
                  <a:srgbClr val="D97706"/>
                </a:solidFill>
                <a:latin typeface="Lato"/>
              </a:rPr>
              <a:t>DimRatingBin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48100"/>
            <a:ext cx="5310187" cy="77152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DAX Expressions: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Created weighted average ratings, estimated revenue metrics (</a:t>
            </a:r>
            <a:r>
              <a:rPr sz="1350" b="0" i="0" u="none">
                <a:solidFill>
                  <a:srgbClr val="D97706"/>
                </a:solidFill>
                <a:latin typeface="Lato"/>
              </a:rPr>
              <a:t>[Est Revenue] = SUMX(Apps, [Installs] * [Price])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), and dynamic slicer measures.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2000250"/>
            <a:ext cx="5310187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43112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67037"/>
            <a:ext cx="1905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90962"/>
            <a:ext cx="13335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Power BI Data Pipeline &amp; 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47975"/>
            <a:ext cx="5310187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12" y="2847975"/>
            <a:ext cx="5310187" cy="1924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0875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Poppins"/>
              </a:rPr>
              <a:t>1. Saturation Alert: Red Oceans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6243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Family &amp; Game categories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account for ~35% of total store listings (~3,800 apps). High saturation means organic discovery requires heavy User Acquisition (UA) ad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3212" y="3190875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Poppins"/>
              </a:rPr>
              <a:t>2. High-Demand: Blue Oceans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3212" y="3657600"/>
            <a:ext cx="46243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Finance, Health &amp; Fitness, and Productivity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show outstanding install-per-app ratios. Users exhibit stronger intent and higher lifetime value (LTV) in utility niches.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Category Opportunity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491037"/>
            <a:ext cx="11049000" cy="781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624387"/>
            <a:ext cx="1066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334155"/>
                </a:solidFill>
                <a:latin typeface="Lato"/>
              </a:rPr>
              <a:t>Power BI Parameterized Chart: Free apps drive 90x more install volume than $0.99 apps. Mobile roadmap must prioritize zero-friction download funnels paired with dynamic in-app upgrades.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491037"/>
            <a:ext cx="38100" cy="7810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Downloads Across Price Tiers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0787"/>
            <a:ext cx="3530649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0787"/>
            <a:ext cx="3530649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0787"/>
            <a:ext cx="3530649" cy="2638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67012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Rating Threshold (4.2+)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Power BI Sentiment Measures indicate apps rated above 4.2 capture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85%+ of total store downloads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 Falling below 4.0 cuts conversion rate by over 50%.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67012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Payload Size (&lt; 30MB)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App binary sizes under 30MB achieve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2.4x higher conversion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in tier-2/3 global markets where device storage and data caps remain strict.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67012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Monthly Update Rhythm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Apps updated at least monthly show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38% higher 90-day retention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benefiting from active algorithmic boosting in store rankings.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2890837"/>
            <a:ext cx="2762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0799" y="2890837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049" y="2890837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Core App Success Drivers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868964"/>
              </p:ext>
            </p:extLst>
          </p:nvPr>
        </p:nvGraphicFramePr>
        <p:xfrm>
          <a:off x="571500" y="2274093"/>
          <a:ext cx="11048997" cy="307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928"/>
                <a:gridCol w="1722983"/>
                <a:gridCol w="1464468"/>
                <a:gridCol w="2853779"/>
                <a:gridCol w="3004839"/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Category Sector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Size (MB)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Rating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Monetization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Power BI Opportunity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Game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64.3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4.28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In-App Purchases (IAP) + Ads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Finance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28.1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4.13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Freemium Subscriptions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Health &amp; Fitness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31.5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4.25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Monthly Tiered Plans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Tools &amp; Utilities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18.2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4.04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In-App Ad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7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Family &amp; Casual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42.7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4.19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Hybrid Ad &amp; Micro-IAP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59868"/>
            <a:ext cx="2002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74428" y="2759868"/>
            <a:ext cx="17229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412" y="2759868"/>
            <a:ext cx="14644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1880" y="2759868"/>
            <a:ext cx="28537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15660" y="2759868"/>
            <a:ext cx="3004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74218"/>
            <a:ext cx="2002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74428" y="3274218"/>
            <a:ext cx="17229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412" y="3274218"/>
            <a:ext cx="14644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1880" y="3274218"/>
            <a:ext cx="28537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15660" y="3274218"/>
            <a:ext cx="3004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788568"/>
            <a:ext cx="2002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74428" y="3788568"/>
            <a:ext cx="17229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412" y="3788568"/>
            <a:ext cx="14644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1880" y="3788568"/>
            <a:ext cx="28537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15660" y="3788568"/>
            <a:ext cx="3004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302918"/>
            <a:ext cx="2002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74428" y="4302918"/>
            <a:ext cx="17229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412" y="4302918"/>
            <a:ext cx="14644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61880" y="4302918"/>
            <a:ext cx="28537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15660" y="4302918"/>
            <a:ext cx="3004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4817268"/>
            <a:ext cx="2002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74428" y="4817268"/>
            <a:ext cx="17229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412" y="4817268"/>
            <a:ext cx="14644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61880" y="4817268"/>
            <a:ext cx="28537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15660" y="4817268"/>
            <a:ext cx="3004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5331618"/>
            <a:ext cx="20029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74428" y="5331618"/>
            <a:ext cx="17229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97412" y="5331618"/>
            <a:ext cx="14644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1880" y="5331618"/>
            <a:ext cx="28537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15660" y="5331618"/>
            <a:ext cx="3004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160" y="2926556"/>
            <a:ext cx="135255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160" y="3440906"/>
            <a:ext cx="11430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6160" y="3955256"/>
            <a:ext cx="1400175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160" y="4469606"/>
            <a:ext cx="1047750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6160" y="4983956"/>
            <a:ext cx="1066800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Category Performance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User Review Sentiment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38250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Key Influencers &amp; Social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1447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Using Power BI's AI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Key Influencers visual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review volume is identified as the #1 driver of organic store ranking. Crossing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10,000+ positive reviews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creates a viral download feedback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489745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Deploying smart in-app review triggers during positive user micro-moments increases 5-star review conversion by 300%.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9562"/>
            <a:ext cx="2541240" cy="1533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109787"/>
            <a:ext cx="2541240" cy="1533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19562"/>
            <a:ext cx="2541240" cy="1533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109787"/>
            <a:ext cx="2541240" cy="1533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281487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97706"/>
                </a:solidFill>
                <a:latin typeface="Poppins"/>
              </a:rPr>
              <a:t>Q1 - Power Query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891087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Clean raw store CSV logs and construct Star Schema dimensional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97706"/>
                </a:solidFill>
                <a:latin typeface="Poppins"/>
              </a:rPr>
              <a:t>Q2 - Interactive DAX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Build dynamic slicers, DAX calculated measures, and user sentiment filters.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281487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97706"/>
                </a:solidFill>
                <a:latin typeface="Poppins"/>
              </a:rPr>
              <a:t>Q3 - Power BI AI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891087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Deploy Decomposition Trees and Smart Narratives for automated executive reporting.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97706"/>
                </a:solidFill>
                <a:latin typeface="Poppins"/>
              </a:rPr>
              <a:t>Q4 - Service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Publish to Power BI Service with automated scheduled refreshes and RLS security.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4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326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0918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510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Power BI Solution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385071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Lean UX &amp; Payload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747021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Maintain binary size under 30MB and streamline initial onboarding to prevent immediate user drop-off.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0749" y="4385071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Real-Time Power BI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0749" y="4747021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Establish live alert thresholds in Power BI Service for rating drops, negative sentiment, and rank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9999" y="4385071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Freemium Monetization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9999" y="4747021"/>
            <a:ext cx="3530649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Drive top-of-funnel reach with zero-cost downloads while converting high-LTV users via in-app subscriptions.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1471"/>
            <a:ext cx="3530649" cy="2000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251471"/>
            <a:ext cx="3530649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251471"/>
            <a:ext cx="3530649" cy="2000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Strategic Action Pillars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663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 junction</cp:lastModifiedBy>
  <cp:revision>2</cp:revision>
  <dcterms:created xsi:type="dcterms:W3CDTF">2013-01-27T09:14:16Z</dcterms:created>
  <dcterms:modified xsi:type="dcterms:W3CDTF">2026-09-03T04:35:04Z</dcterms:modified>
  <cp:category/>
</cp:coreProperties>
</file>