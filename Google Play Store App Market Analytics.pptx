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276" y="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162" y="2509391"/>
            <a:ext cx="3495675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95462" y="3014216"/>
            <a:ext cx="8601075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>
                <a:solidFill>
                  <a:srgbClr val="0F172A"/>
                </a:solidFill>
                <a:latin typeface="Poppins"/>
              </a:rPr>
              <a:t>Mobile App Market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4500" y="3796158"/>
            <a:ext cx="8763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Data-Driven Insights across 10,800+ Android Applications to Guide App Strategy, UX Design, and Monetization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70634" y="2919412"/>
            <a:ext cx="5850731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oppins"/>
              </a:rPr>
              <a:t>Executive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4500" y="3805237"/>
            <a:ext cx="8763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Empirical investigation into category saturation, install triggers, app size constraints, and revenue drivers to maximize app portfolio ROI.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71775"/>
            <a:ext cx="4419600" cy="2076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3162300"/>
            <a:ext cx="38290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1" i="0" u="none">
                <a:solidFill>
                  <a:srgbClr val="059669"/>
                </a:solidFill>
                <a:latin typeface="Poppins"/>
              </a:rPr>
              <a:t>92.6%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4229100"/>
            <a:ext cx="3829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65F46"/>
                </a:solidFill>
                <a:latin typeface="Lato"/>
              </a:rPr>
              <a:t>Free App 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7350" y="3086100"/>
            <a:ext cx="646080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Freemium as the Default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7350" y="3362325"/>
            <a:ext cx="6153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Out of 10,841 benchmarked applications,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92.6% are distributed free of charge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, generating over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98% of total global download volume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7350" y="4019550"/>
            <a:ext cx="6153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Upfront paid apps face severe friction; sustainable mobile revenue overwhelmingly depends on In-App Purchases (IAP), subscriptions, and targeted ad monetization.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Google Play Store Ecosystem Snapshot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00250"/>
            <a:ext cx="5310187" cy="5143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10,841 App Profiles: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Multi-variate records across 33 primary categories including Games, Family, Tools, and Finance.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667000"/>
            <a:ext cx="5310187" cy="5143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Install &amp; Scale Metrics: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Quantified download tiers ranging from 1+ to 1 Billion+ installations.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33750"/>
            <a:ext cx="5310187" cy="51435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UX &amp; Feedback Indicators: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Evaluated user sentiment, rating distributions (4.19 store average), review volume, and app size in MB.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12" y="2000250"/>
            <a:ext cx="5310187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43112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09862"/>
            <a:ext cx="1714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76612"/>
            <a:ext cx="190500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Dataset &amp; Analytics Scope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9387"/>
            <a:ext cx="5310187" cy="2181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312" y="2719387"/>
            <a:ext cx="5310187" cy="2181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62287"/>
            <a:ext cx="48556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59669"/>
                </a:solidFill>
                <a:latin typeface="Poppins"/>
              </a:rPr>
              <a:t>1. Saturated Volume Leaders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9012"/>
            <a:ext cx="4624387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Family &amp; Game categories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account for over 30% of total app store listings (~3,800 apps). High saturation means organic discovery is difficult without massive User Acquisition (UA) ad spend.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3212" y="3062287"/>
            <a:ext cx="48556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59669"/>
                </a:solidFill>
                <a:latin typeface="Poppins"/>
              </a:rPr>
              <a:t>2. High-Demand Blue Oceans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3212" y="3529012"/>
            <a:ext cx="462438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Finance, Productivity, and Health &amp; Fitness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exhibit exceptional install-per-app ratios. Users demonstrate stronger intent and higher lifetime value (LTV) in these utility sectors.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Category Landscape &amp; Opportunity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38250"/>
            <a:ext cx="11049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491037"/>
            <a:ext cx="11049000" cy="7810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4624387"/>
            <a:ext cx="1066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334155"/>
                </a:solidFill>
                <a:latin typeface="Lato"/>
              </a:rPr>
              <a:t>Free apps drive over 100x more install volume than low-cost paid apps. Mobile strategy should focus on friction-free installation followed by tiered freemium upsells.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491037"/>
            <a:ext cx="38100" cy="781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Average Downloads Across Price Tiers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0787"/>
            <a:ext cx="3530649" cy="2638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0787"/>
            <a:ext cx="3530649" cy="2638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0787"/>
            <a:ext cx="3530649" cy="2638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67012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Rating Benchmark (4.2+)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Apps rated above 4.2 capture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85%+ of total store downloads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. Falling below 4.0 cuts conversion rate by over 50% on search impressions.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67012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Size Sensitivity (&lt; 50MB)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App sizes under 50MB achieve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2.4x higher conversion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in tier-2/3 global markets where device storage and data caps remain strict.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67012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Frequent Update Cycles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Apps updated at least monthly show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38% higher 90-day retention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, benefiting from active algorithmic boosting in search rankings.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262" y="2890837"/>
            <a:ext cx="2762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0799" y="2890837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0049" y="2890837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Core App Success Drivers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778957"/>
              </p:ext>
            </p:extLst>
          </p:nvPr>
        </p:nvGraphicFramePr>
        <p:xfrm>
          <a:off x="571500" y="2274093"/>
          <a:ext cx="11048997" cy="3071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295"/>
                <a:gridCol w="1775221"/>
                <a:gridCol w="1588293"/>
                <a:gridCol w="3095029"/>
                <a:gridCol w="2418159"/>
              </a:tblGrid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Category Sector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App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Rating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Monetization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Strategic Potential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Game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64.3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4.28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In-App Purchases (IAP) + Ads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Lato"/>
                        </a:rPr>
                        <a:t>Finance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28.1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4.13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Freemium Subscriptions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Lato"/>
                        </a:rPr>
                        <a:t>Health &amp; Fitness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31.5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4.25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Monthly Tiered Plans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Tools &amp; Utilities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18.2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4.04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In-App Ad Network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7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Family &amp; Casual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42.7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4.19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Hybrid Ad &amp; Micro-IAP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759868"/>
            <a:ext cx="2172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795" y="2759868"/>
            <a:ext cx="17752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19017" y="2759868"/>
            <a:ext cx="15882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07310" y="2759868"/>
            <a:ext cx="30950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02340" y="2759868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274218"/>
            <a:ext cx="2172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795" y="3274218"/>
            <a:ext cx="17752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19017" y="3274218"/>
            <a:ext cx="15882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07310" y="3274218"/>
            <a:ext cx="30950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02340" y="3274218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788568"/>
            <a:ext cx="2172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795" y="3788568"/>
            <a:ext cx="17752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19017" y="3788568"/>
            <a:ext cx="15882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07310" y="3788568"/>
            <a:ext cx="30950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02340" y="3788568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4302918"/>
            <a:ext cx="2172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795" y="4302918"/>
            <a:ext cx="17752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19017" y="4302918"/>
            <a:ext cx="15882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07310" y="4302918"/>
            <a:ext cx="30950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02340" y="4302918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1500" y="4817268"/>
            <a:ext cx="2172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795" y="4817268"/>
            <a:ext cx="17752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19017" y="4817268"/>
            <a:ext cx="15882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07310" y="4817268"/>
            <a:ext cx="30950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202340" y="4817268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5331618"/>
            <a:ext cx="2172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795" y="5331618"/>
            <a:ext cx="17752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19017" y="5331618"/>
            <a:ext cx="15882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07310" y="5331618"/>
            <a:ext cx="30950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202340" y="5331618"/>
            <a:ext cx="24181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2339" y="2926556"/>
            <a:ext cx="1113499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2340" y="3440906"/>
            <a:ext cx="704850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2350" y="3970702"/>
            <a:ext cx="1133475" cy="2286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0440" y="4469606"/>
            <a:ext cx="885825" cy="2286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0440" y="4968046"/>
            <a:ext cx="733425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Category Performance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User Review Dynamics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4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238250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Social Proof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514475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Review velocity directly dictates algorithm ranking on Google Play search. Unlocking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10,000+ positive reviews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creates a self-sustaining viral organic acquisition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489745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Deploying smart in-app review prompts during moments of user satisfaction (e.g., milestone achievements) increases positive rating prompts by 3x.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19562"/>
            <a:ext cx="2541240" cy="1257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109787"/>
            <a:ext cx="2541240" cy="1533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119562"/>
            <a:ext cx="2541240" cy="1533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86012"/>
            <a:ext cx="2541240" cy="1257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8623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7990" y="4281487"/>
            <a:ext cx="2328259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59669"/>
                </a:solidFill>
                <a:latin typeface="Poppins"/>
              </a:rPr>
              <a:t>Q1 - Lightweight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1486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Build optimized APK under 30MB targeting high-intent Health/Finance niches.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910" y="2271712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59669"/>
                </a:solidFill>
                <a:latin typeface="Poppins"/>
              </a:rPr>
              <a:t>Q2 - ASO &amp; Review Prompts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344" y="288131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Implement smart in-app review triggers to cross the 4.2+ rating threshold.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30" y="4281487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59669"/>
                </a:solidFill>
                <a:latin typeface="Poppins"/>
              </a:rPr>
              <a:t>Q3 - Hybrid Monetization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264" y="4891087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Launch freemium subscription paywall alongside non-intrusive native ads.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750" y="2547937"/>
            <a:ext cx="2328259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59669"/>
                </a:solidFill>
                <a:latin typeface="Poppins"/>
              </a:rPr>
              <a:t>Q4 - Bi-Weekly 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184" y="288131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Establish automated release pipeline to push bi-weekly updates and bug fixes.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45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3265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09184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45104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Product Growth Roadmap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UX &amp; Size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Keep binary size lean (&lt;30MB) and focus on rapid onboarding to minimize initial drop-off.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30749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ASO &amp; Rating Velocity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0749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Optimize app store metadata and trigger early positive reviews to boost store search visibility.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9999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Freemium Monetization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89999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Maximize user funnel reach with free installs while driving high LTV via premium subscriptions.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5056"/>
            <a:ext cx="3530649" cy="2000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55056"/>
            <a:ext cx="3530649" cy="361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55056"/>
            <a:ext cx="3530649" cy="2000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Strategic Action Pillars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617</Words>
  <Application>Microsoft Office PowerPoint</Application>
  <PresentationFormat>Custom</PresentationFormat>
  <Paragraphs>74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Computer junction</cp:lastModifiedBy>
  <cp:revision>3</cp:revision>
  <dcterms:created xsi:type="dcterms:W3CDTF">2013-01-27T09:14:16Z</dcterms:created>
  <dcterms:modified xsi:type="dcterms:W3CDTF">2026-09-03T04:31:54Z</dcterms:modified>
  <cp:category/>
</cp:coreProperties>
</file>